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aleway" pitchFamily="2" charset="0"/>
      <p:regular r:id="rId16"/>
    </p:embeddedFont>
    <p:embeddedFont>
      <p:font typeface="Raleway Bold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23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7191375" cy="8953500"/>
            <a:chOff x="0" y="0"/>
            <a:chExt cx="1036915" cy="1290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6915" cy="1290994"/>
            </a:xfrm>
            <a:custGeom>
              <a:avLst/>
              <a:gdLst/>
              <a:ahLst/>
              <a:cxnLst/>
              <a:rect l="l" t="t" r="r" b="b"/>
              <a:pathLst>
                <a:path w="1036915" h="1290994">
                  <a:moveTo>
                    <a:pt x="0" y="0"/>
                  </a:moveTo>
                  <a:lnTo>
                    <a:pt x="1036915" y="0"/>
                  </a:lnTo>
                  <a:lnTo>
                    <a:pt x="1036915" y="1290994"/>
                  </a:lnTo>
                  <a:lnTo>
                    <a:pt x="0" y="1290994"/>
                  </a:lnTo>
                  <a:close/>
                </a:path>
              </a:pathLst>
            </a:custGeom>
            <a:blipFill>
              <a:blip r:embed="rId2"/>
              <a:stretch>
                <a:fillRect l="-346" r="-346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8688620" y="2441350"/>
            <a:ext cx="5489342" cy="445682"/>
            <a:chOff x="0" y="0"/>
            <a:chExt cx="7319123" cy="594243"/>
          </a:xfrm>
        </p:grpSpPr>
        <p:sp>
          <p:nvSpPr>
            <p:cNvPr id="5" name="TextBox 5"/>
            <p:cNvSpPr txBox="1"/>
            <p:nvPr/>
          </p:nvSpPr>
          <p:spPr>
            <a:xfrm>
              <a:off x="956381" y="104226"/>
              <a:ext cx="6362742" cy="490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50"/>
                </a:lnSpc>
              </a:pPr>
              <a:r>
                <a:rPr lang="en-US" sz="25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TaxiFlow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594243" cy="594243"/>
            </a:xfrm>
            <a:custGeom>
              <a:avLst/>
              <a:gdLst/>
              <a:ahLst/>
              <a:cxnLst/>
              <a:rect l="l" t="t" r="r" b="b"/>
              <a:pathLst>
                <a:path w="594243" h="594243">
                  <a:moveTo>
                    <a:pt x="0" y="0"/>
                  </a:moveTo>
                  <a:lnTo>
                    <a:pt x="594243" y="0"/>
                  </a:lnTo>
                  <a:lnTo>
                    <a:pt x="594243" y="594243"/>
                  </a:lnTo>
                  <a:lnTo>
                    <a:pt x="0" y="594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5381498" y="0"/>
            <a:ext cx="2906502" cy="2906502"/>
          </a:xfrm>
          <a:custGeom>
            <a:avLst/>
            <a:gdLst/>
            <a:ahLst/>
            <a:cxnLst/>
            <a:rect l="l" t="t" r="r" b="b"/>
            <a:pathLst>
              <a:path w="2906502" h="2906502">
                <a:moveTo>
                  <a:pt x="0" y="0"/>
                </a:moveTo>
                <a:lnTo>
                  <a:pt x="2906502" y="0"/>
                </a:lnTo>
                <a:lnTo>
                  <a:pt x="2906502" y="2906502"/>
                </a:lnTo>
                <a:lnTo>
                  <a:pt x="0" y="29065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630925" y="3478554"/>
            <a:ext cx="8324850" cy="4095791"/>
            <a:chOff x="0" y="0"/>
            <a:chExt cx="11099800" cy="5461054"/>
          </a:xfrm>
        </p:grpSpPr>
        <p:sp>
          <p:nvSpPr>
            <p:cNvPr id="9" name="TextBox 9"/>
            <p:cNvSpPr txBox="1"/>
            <p:nvPr/>
          </p:nvSpPr>
          <p:spPr>
            <a:xfrm>
              <a:off x="0" y="190500"/>
              <a:ext cx="11099800" cy="3832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800"/>
                </a:lnSpc>
              </a:pPr>
              <a:r>
                <a:rPr lang="en-US" sz="108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Système de Gestion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073579"/>
              <a:ext cx="11099800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Optimizing fleet management for taxi companies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177962" y="9883316"/>
            <a:ext cx="6886575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Année universitaire 2025-2026,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6843" y="9732504"/>
            <a:ext cx="4108957" cy="330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Réalisé</a:t>
            </a:r>
            <a:r>
              <a:rPr lang="en-US" sz="2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par ICHADRIOUAN Aya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785" y="666750"/>
            <a:ext cx="11203365" cy="3258770"/>
            <a:chOff x="0" y="0"/>
            <a:chExt cx="14937820" cy="4345026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4937820" cy="342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Introduction à TaxiFlow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668751"/>
              <a:ext cx="1493782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4A89DC"/>
                  </a:solidFill>
                  <a:latin typeface="Raleway"/>
                  <a:ea typeface="Raleway"/>
                  <a:cs typeface="Raleway"/>
                  <a:sym typeface="Raleway"/>
                </a:rPr>
                <a:t>Voici les principaux éléments de notre présentation aujourd'hui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71512" y="6886575"/>
            <a:ext cx="2590269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Objectifs du Projet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94990" y="6886575"/>
            <a:ext cx="2617503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Technologies Utilisées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6886575"/>
            <a:ext cx="2571750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Analyse Fonctionnelle Utilisateurs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611225" y="6886575"/>
            <a:ext cx="2571750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Fonctionnalités Principales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488928" y="9402749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62404" y="5469939"/>
            <a:ext cx="1137821" cy="568911"/>
          </a:xfrm>
          <a:custGeom>
            <a:avLst/>
            <a:gdLst/>
            <a:ahLst/>
            <a:cxnLst/>
            <a:rect l="l" t="t" r="r" b="b"/>
            <a:pathLst>
              <a:path w="1137821" h="568911">
                <a:moveTo>
                  <a:pt x="0" y="0"/>
                </a:moveTo>
                <a:lnTo>
                  <a:pt x="1137821" y="0"/>
                </a:lnTo>
                <a:lnTo>
                  <a:pt x="1137821" y="568911"/>
                </a:lnTo>
                <a:lnTo>
                  <a:pt x="0" y="568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0800000">
            <a:off x="4994990" y="5478820"/>
            <a:ext cx="1120060" cy="560030"/>
          </a:xfrm>
          <a:custGeom>
            <a:avLst/>
            <a:gdLst/>
            <a:ahLst/>
            <a:cxnLst/>
            <a:rect l="l" t="t" r="r" b="b"/>
            <a:pathLst>
              <a:path w="1120060" h="56003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>
            <a:off x="13611225" y="5478820"/>
            <a:ext cx="1120060" cy="560030"/>
          </a:xfrm>
          <a:custGeom>
            <a:avLst/>
            <a:gdLst/>
            <a:ahLst/>
            <a:cxnLst/>
            <a:rect l="l" t="t" r="r" b="b"/>
            <a:pathLst>
              <a:path w="1120060" h="56003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296400" y="5478820"/>
            <a:ext cx="1120060" cy="560030"/>
          </a:xfrm>
          <a:custGeom>
            <a:avLst/>
            <a:gdLst/>
            <a:ahLst/>
            <a:cxnLst/>
            <a:rect l="l" t="t" r="r" b="b"/>
            <a:pathLst>
              <a:path w="1120060" h="56003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66750" y="666750"/>
            <a:ext cx="13208441" cy="3382010"/>
            <a:chOff x="0" y="0"/>
            <a:chExt cx="17611255" cy="4509346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7611255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Objectifs du Projet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320925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4A89DC"/>
                  </a:solidFill>
                  <a:latin typeface="Raleway"/>
                  <a:ea typeface="Raleway"/>
                  <a:cs typeface="Raleway"/>
                  <a:sym typeface="Raleway"/>
                </a:rPr>
                <a:t>Développement d'une application web moderne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552825"/>
              <a:ext cx="17611255" cy="956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L'objectif principal de TaxiFlow est de </a:t>
              </a:r>
              <a:r>
                <a:rPr lang="en-US" sz="2200" b="1">
                  <a:solidFill>
                    <a:srgbClr val="1A1A1A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concevoir une application</a:t>
              </a: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 web complète pour la gestion de flotte de taxis, assurant un suivi en temps réel et une interface d'administration efficace.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66750" y="666750"/>
            <a:ext cx="13208441" cy="2249148"/>
            <a:chOff x="0" y="0"/>
            <a:chExt cx="17611255" cy="2998864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7611255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Technologies Utilisées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322589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4A89DC"/>
                  </a:solidFill>
                  <a:latin typeface="Raleway"/>
                  <a:ea typeface="Raleway"/>
                  <a:cs typeface="Raleway"/>
                  <a:sym typeface="Raleway"/>
                </a:rPr>
                <a:t>Outils et langages du projet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71512" y="5143500"/>
            <a:ext cx="5443538" cy="2677160"/>
            <a:chOff x="0" y="0"/>
            <a:chExt cx="7258050" cy="3569547"/>
          </a:xfrm>
        </p:grpSpPr>
        <p:sp>
          <p:nvSpPr>
            <p:cNvPr id="8" name="TextBox 8"/>
            <p:cNvSpPr txBox="1"/>
            <p:nvPr/>
          </p:nvSpPr>
          <p:spPr>
            <a:xfrm>
              <a:off x="0" y="1165225"/>
              <a:ext cx="7258050" cy="2404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Python 3.14 est le </a:t>
              </a:r>
              <a:r>
                <a:rPr lang="en-US" sz="2200" b="1">
                  <a:solidFill>
                    <a:srgbClr val="1A1A1A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langage de programmation principal</a:t>
              </a: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 utilisé pour construire l'application, offrant une syntaxe claire et une large bibliothèque de modules.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725805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Python 3.14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58125" y="5143500"/>
            <a:ext cx="5448300" cy="2677160"/>
            <a:chOff x="0" y="0"/>
            <a:chExt cx="7264400" cy="356954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165225"/>
              <a:ext cx="7264400" cy="2404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Django 6.0.4 est le </a:t>
              </a:r>
              <a:r>
                <a:rPr lang="en-US" sz="2200" b="1">
                  <a:solidFill>
                    <a:srgbClr val="1A1A1A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framework web back-end</a:t>
              </a: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 qui facilite le développement rapide et sécurisé, permettant une gestion efficace des bases de données et des utilisateurs.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72644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Django 6.0.4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66750" y="666750"/>
            <a:ext cx="13208441" cy="2249148"/>
            <a:chOff x="0" y="0"/>
            <a:chExt cx="17611255" cy="2998864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7611255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Analyse Fonctionnelle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322589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4A89DC"/>
                  </a:solidFill>
                  <a:latin typeface="Raleway"/>
                  <a:ea typeface="Raleway"/>
                  <a:cs typeface="Raleway"/>
                  <a:sym typeface="Raleway"/>
                </a:rPr>
                <a:t>Utilisateurs et leurs rôles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71512" y="5143500"/>
            <a:ext cx="5443538" cy="2315210"/>
            <a:chOff x="0" y="0"/>
            <a:chExt cx="7258050" cy="3086947"/>
          </a:xfrm>
        </p:grpSpPr>
        <p:sp>
          <p:nvSpPr>
            <p:cNvPr id="8" name="TextBox 8"/>
            <p:cNvSpPr txBox="1"/>
            <p:nvPr/>
          </p:nvSpPr>
          <p:spPr>
            <a:xfrm>
              <a:off x="0" y="1165225"/>
              <a:ext cx="7258050" cy="1921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Le régulateur admin est responsable de la </a:t>
              </a:r>
              <a:r>
                <a:rPr lang="en-US" sz="2200" b="1">
                  <a:solidFill>
                    <a:srgbClr val="1A1A1A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gestion globale</a:t>
              </a: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 de la flotte, ayant un accès complet à l'interface web et à l'administration.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725805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Régulateur Admin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58125" y="5143500"/>
            <a:ext cx="5448300" cy="2315210"/>
            <a:chOff x="0" y="0"/>
            <a:chExt cx="7264400" cy="308694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165225"/>
              <a:ext cx="7264400" cy="1921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Le chauffeur est un conducteur assigné à un taxi, enregistré dans la base de données pour assurer un suivi efficace de la disponibilité.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72644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Chauffeur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1201400" cy="381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9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Fonctionnalités Principales de TaxiFlow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5143500"/>
            <a:ext cx="5448300" cy="1706286"/>
            <a:chOff x="0" y="0"/>
            <a:chExt cx="7264400" cy="2275047"/>
          </a:xfrm>
        </p:grpSpPr>
        <p:sp>
          <p:nvSpPr>
            <p:cNvPr id="4" name="TextBox 4"/>
            <p:cNvSpPr txBox="1"/>
            <p:nvPr/>
          </p:nvSpPr>
          <p:spPr>
            <a:xfrm>
              <a:off x="0" y="19050"/>
              <a:ext cx="7264400" cy="1149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Suivi des véhicules en temps réel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781229"/>
              <a:ext cx="72644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Gestion efficace des statuts et des zones.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19850" y="5143450"/>
            <a:ext cx="5448300" cy="2075588"/>
            <a:chOff x="0" y="0"/>
            <a:chExt cx="7264400" cy="2767450"/>
          </a:xfrm>
        </p:grpSpPr>
        <p:sp>
          <p:nvSpPr>
            <p:cNvPr id="7" name="TextBox 7"/>
            <p:cNvSpPr txBox="1"/>
            <p:nvPr/>
          </p:nvSpPr>
          <p:spPr>
            <a:xfrm>
              <a:off x="0" y="19050"/>
              <a:ext cx="7264400" cy="1149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Alertes de maintenance préventive intégrées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752932"/>
              <a:ext cx="72644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Notifications visuelles pour les véhicules anciens.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72903" y="5143450"/>
            <a:ext cx="5448347" cy="2096860"/>
            <a:chOff x="0" y="0"/>
            <a:chExt cx="7264463" cy="2795814"/>
          </a:xfrm>
        </p:grpSpPr>
        <p:sp>
          <p:nvSpPr>
            <p:cNvPr id="10" name="TextBox 10"/>
            <p:cNvSpPr txBox="1"/>
            <p:nvPr/>
          </p:nvSpPr>
          <p:spPr>
            <a:xfrm>
              <a:off x="63" y="19050"/>
              <a:ext cx="7264400" cy="1149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Interface d'administration complète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781295"/>
              <a:ext cx="72644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Gestion des chauffeurs, véhicules et zones.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403826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8410794">
            <a:off x="14883321" y="-3075217"/>
            <a:ext cx="7440338" cy="5072958"/>
          </a:xfrm>
          <a:custGeom>
            <a:avLst/>
            <a:gdLst/>
            <a:ahLst/>
            <a:cxnLst/>
            <a:rect l="l" t="t" r="r" b="b"/>
            <a:pathLst>
              <a:path w="7440338" h="507295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66750" y="666750"/>
            <a:ext cx="13208441" cy="3506448"/>
            <a:chOff x="0" y="0"/>
            <a:chExt cx="17611255" cy="4675264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7611255" cy="342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Architecture des Données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998989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4A89DC"/>
                  </a:solidFill>
                  <a:latin typeface="Raleway"/>
                  <a:ea typeface="Raleway"/>
                  <a:cs typeface="Raleway"/>
                  <a:sym typeface="Raleway"/>
                </a:rPr>
                <a:t>Structure des données de TaxiFlow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71512" y="5143500"/>
            <a:ext cx="4005262" cy="3039110"/>
            <a:chOff x="0" y="0"/>
            <a:chExt cx="5340350" cy="4052147"/>
          </a:xfrm>
        </p:grpSpPr>
        <p:sp>
          <p:nvSpPr>
            <p:cNvPr id="8" name="TextBox 8"/>
            <p:cNvSpPr txBox="1"/>
            <p:nvPr/>
          </p:nvSpPr>
          <p:spPr>
            <a:xfrm>
              <a:off x="0" y="1165225"/>
              <a:ext cx="5340350" cy="2886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Le modèle Taxi comprend des attributs essentiels comme la plaque d'immatriculation, le chauffeur assigné, le statut du véhicule, la zone de service et la date de mise en circulation.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534035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Modèle Taxi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19850" y="5143500"/>
            <a:ext cx="4010025" cy="3401060"/>
            <a:chOff x="0" y="0"/>
            <a:chExt cx="5346700" cy="453474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165225"/>
              <a:ext cx="5346700" cy="3369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Le modèle Chauffeur enregistre des informations clés telles que le nom, le prénom, le numéro de permis de conduire unique et le numéro de téléphone pour chaque conducteur.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53467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Modèle Chauffeur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87642" y="5152390"/>
            <a:ext cx="3995333" cy="3401060"/>
            <a:chOff x="0" y="0"/>
            <a:chExt cx="5327111" cy="4534747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165225"/>
              <a:ext cx="5327111" cy="3369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Le modèle Zone définit les différentes zones de service, incluant le nom de la zone et le tarif de base en dirhams marocains (MAD) pour garantir une gestion efficace des zones.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5327111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Modèle Zone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357080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66750" y="666750"/>
            <a:ext cx="13208441" cy="4639310"/>
            <a:chOff x="0" y="0"/>
            <a:chExt cx="17611255" cy="6185746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7611255" cy="342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Architecture Technique MVT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997325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4A89DC"/>
                  </a:solidFill>
                  <a:latin typeface="Raleway"/>
                  <a:ea typeface="Raleway"/>
                  <a:cs typeface="Raleway"/>
                  <a:sym typeface="Raleway"/>
                </a:rPr>
                <a:t>Comprendre le modèle MVT dans Django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229225"/>
              <a:ext cx="17611255" cy="956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Le modèle Vue Template (MVT) est une variante du MVC, facilitant la gestion des modèles, des vues, des URLs, de l'interface d'administration et des paramètres dans Django pour une meilleure structure.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1201400" cy="255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9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Vues Implémentées de TaxiFlow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5143500"/>
            <a:ext cx="5448300" cy="2096811"/>
            <a:chOff x="0" y="0"/>
            <a:chExt cx="7264400" cy="2795747"/>
          </a:xfrm>
        </p:grpSpPr>
        <p:sp>
          <p:nvSpPr>
            <p:cNvPr id="4" name="TextBox 4"/>
            <p:cNvSpPr txBox="1"/>
            <p:nvPr/>
          </p:nvSpPr>
          <p:spPr>
            <a:xfrm>
              <a:off x="0" y="19050"/>
              <a:ext cx="7264400" cy="1149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Dashboard avec statistiques des taxis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781229"/>
              <a:ext cx="72644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Affichage clair des données et indicateurs de performance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19850" y="5143450"/>
            <a:ext cx="5448300" cy="2075588"/>
            <a:chOff x="0" y="0"/>
            <a:chExt cx="7264400" cy="2767450"/>
          </a:xfrm>
        </p:grpSpPr>
        <p:sp>
          <p:nvSpPr>
            <p:cNvPr id="7" name="TextBox 7"/>
            <p:cNvSpPr txBox="1"/>
            <p:nvPr/>
          </p:nvSpPr>
          <p:spPr>
            <a:xfrm>
              <a:off x="0" y="19050"/>
              <a:ext cx="7264400" cy="1149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Recherche efficace par critères variés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752932"/>
              <a:ext cx="72644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Filtrage rapide pour trouver des taxis disponibles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72903" y="5143450"/>
            <a:ext cx="5448347" cy="2096860"/>
            <a:chOff x="0" y="0"/>
            <a:chExt cx="7264463" cy="2795814"/>
          </a:xfrm>
        </p:grpSpPr>
        <p:sp>
          <p:nvSpPr>
            <p:cNvPr id="10" name="TextBox 10"/>
            <p:cNvSpPr txBox="1"/>
            <p:nvPr/>
          </p:nvSpPr>
          <p:spPr>
            <a:xfrm>
              <a:off x="63" y="19050"/>
              <a:ext cx="7264400" cy="1149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Formulaire d'ajout de nouveau taxi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781295"/>
              <a:ext cx="72644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Interface simplifiée pour une gestion rapide et intuitive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403826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9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8410794">
            <a:off x="14883321" y="-3075217"/>
            <a:ext cx="7440338" cy="5072958"/>
          </a:xfrm>
          <a:custGeom>
            <a:avLst/>
            <a:gdLst/>
            <a:ahLst/>
            <a:cxnLst/>
            <a:rect l="l" t="t" r="r" b="b"/>
            <a:pathLst>
              <a:path w="7440338" h="507295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12014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9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Tests et Validation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4259161"/>
            <a:ext cx="5381955" cy="1477645"/>
            <a:chOff x="0" y="0"/>
            <a:chExt cx="7175940" cy="1970193"/>
          </a:xfrm>
        </p:grpSpPr>
        <p:sp>
          <p:nvSpPr>
            <p:cNvPr id="4" name="TextBox 4"/>
            <p:cNvSpPr txBox="1"/>
            <p:nvPr/>
          </p:nvSpPr>
          <p:spPr>
            <a:xfrm>
              <a:off x="0" y="19050"/>
              <a:ext cx="717594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Ajout taxi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5675"/>
              <a:ext cx="717594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Formulaire valide pour la plaque, taxi créé correctement.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19850" y="4259161"/>
            <a:ext cx="5381955" cy="1488687"/>
            <a:chOff x="0" y="0"/>
            <a:chExt cx="7175940" cy="1984916"/>
          </a:xfrm>
        </p:grpSpPr>
        <p:sp>
          <p:nvSpPr>
            <p:cNvPr id="7" name="TextBox 7"/>
            <p:cNvSpPr txBox="1"/>
            <p:nvPr/>
          </p:nvSpPr>
          <p:spPr>
            <a:xfrm>
              <a:off x="0" y="19050"/>
              <a:ext cx="717594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Changement statut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70398"/>
              <a:ext cx="717594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Mise à jour du statut avec badge couleur effectué.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370489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10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1A1A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666750" y="6946728"/>
            <a:ext cx="5381955" cy="1477645"/>
            <a:chOff x="0" y="0"/>
            <a:chExt cx="7175940" cy="197019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9050"/>
              <a:ext cx="717594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Filtrage zone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5675"/>
              <a:ext cx="717594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Sélection d'Aéroport affichant uniquement les taxis de cette zone.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19850" y="6935686"/>
            <a:ext cx="5381955" cy="1488687"/>
            <a:chOff x="0" y="0"/>
            <a:chExt cx="7175940" cy="1984916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9050"/>
              <a:ext cx="717594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Alerte maintenance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70398"/>
              <a:ext cx="717594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Badge MAINT affiché pour les taxis nécessitant attention.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173280" y="4259161"/>
            <a:ext cx="5381955" cy="1488687"/>
            <a:chOff x="0" y="0"/>
            <a:chExt cx="7175940" cy="1984916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9050"/>
              <a:ext cx="717594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Recherche plaque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70398"/>
              <a:ext cx="717594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Saisie de numéro retournant les taxis correspondants affichés.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173280" y="6935686"/>
            <a:ext cx="5381955" cy="1488687"/>
            <a:chOff x="0" y="0"/>
            <a:chExt cx="7175940" cy="1984916"/>
          </a:xfrm>
        </p:grpSpPr>
        <p:sp>
          <p:nvSpPr>
            <p:cNvPr id="22" name="TextBox 22"/>
            <p:cNvSpPr txBox="1"/>
            <p:nvPr/>
          </p:nvSpPr>
          <p:spPr>
            <a:xfrm>
              <a:off x="0" y="19050"/>
              <a:ext cx="717594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4A89D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Interface admin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970398"/>
              <a:ext cx="717594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Connexion et ajout de zone créent avec succès.</a:t>
              </a:r>
            </a:p>
          </p:txBody>
        </p:sp>
      </p:grpSp>
      <p:sp>
        <p:nvSpPr>
          <p:cNvPr id="24" name="Freeform 24"/>
          <p:cNvSpPr/>
          <p:nvPr/>
        </p:nvSpPr>
        <p:spPr>
          <a:xfrm rot="8410794">
            <a:off x="14883321" y="-3075217"/>
            <a:ext cx="7440338" cy="5072958"/>
          </a:xfrm>
          <a:custGeom>
            <a:avLst/>
            <a:gdLst/>
            <a:ahLst/>
            <a:cxnLst/>
            <a:rect l="l" t="t" r="r" b="b"/>
            <a:pathLst>
              <a:path w="7440338" h="507295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</Words>
  <Application>Microsoft Office PowerPoint</Application>
  <PresentationFormat>Personnalisé</PresentationFormat>
  <Paragraphs>73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Raleway</vt:lpstr>
      <vt:lpstr>Calibri</vt:lpstr>
      <vt:lpstr>Raleway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- Système de Gestion</dc:title>
  <dc:description>Présentation - Système de Gestion</dc:description>
  <cp:lastModifiedBy>Aya Ichadriouan</cp:lastModifiedBy>
  <cp:revision>2</cp:revision>
  <dcterms:created xsi:type="dcterms:W3CDTF">2006-08-16T00:00:00Z</dcterms:created>
  <dcterms:modified xsi:type="dcterms:W3CDTF">2026-05-08T21:15:53Z</dcterms:modified>
  <dc:identifier>DAHJHY3vCkM</dc:identifier>
</cp:coreProperties>
</file>